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64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report.pdf
- User-uploaded tl-tr-heads.png (adapted paper figure)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report.pdf
- User-uploaded tl-tr-heads.png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report.pdf
- User-uploaded transformer-model.png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report.pdf
- User-uploaded residual-stream.png
- User-uploaded tl-tr-heads.png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report.pdf
- User-uploaded experiment-1-tr-heatmap.png
- User-uploaded experiment-1-tl-heatmap.png
- User-uploaded experiment-1-ih-heatmap.png
- User-uploaded experiment-2-jacard-similarity.png
- User-uploaded experiment-2-rank-correlation.png
- User-uploaded experiment-2-conditional-mean-percentile.png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report.pdf
- User-uploaded experiment-3-abalation-accuracy.png
- User-uploaded experiment-3-tr-ration.png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report.pdf
- User-uploaded experiment-4-violin -plot.png
- User-uploaded experiment-4-layer-count.png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report.pdf
- User-uploaded experiment-5-attention-allocation.png
- User-uploaded experiment-5-scatter.png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report.pdf
- OpenReview paper PDF: Localizing Task Recognition and Task Learning in In-Context Learning via Attention Head Analysis
- OpenReview workshop paper: Single-Position Intervention Fails: Distributed Output Templates Drive In-Context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User-uploaded report.pdf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26" y="164592"/>
            <a:ext cx="12191695" cy="6492240"/>
          </a:xfrm>
          <a:prstGeom prst="rect">
            <a:avLst/>
          </a:prstGeom>
          <a:solidFill>
            <a:srgbClr val="EFEAE2"/>
          </a:solidFill>
          <a:ln w="12700">
            <a:solidFill>
              <a:srgbClr val="EFEAE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502920"/>
            <a:ext cx="5852160" cy="5394960"/>
          </a:xfrm>
          <a:prstGeom prst="roundRect">
            <a:avLst>
              <a:gd name="adj" fmla="val 1356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22860" dist="1016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" y="914400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Localizing Task Recognition and Task Learning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In-Context Learning via Attention Head Analysis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04672" y="2331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7F8E"/>
                </a:solidFill>
              </a:rPr>
              <a:t>IE 663 Course Project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A7F8E"/>
                </a:solidFill>
              </a:rPr>
              <a:t>Scaled reproduction of TSLA on SST-2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77240" y="3246120"/>
            <a:ext cx="2377440" cy="1325880"/>
          </a:xfrm>
          <a:prstGeom prst="roundRect">
            <a:avLst>
              <a:gd name="adj" fmla="val 5517"/>
            </a:avLst>
          </a:prstGeom>
          <a:solidFill>
            <a:srgbClr val="F6F1E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337560" y="324612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6F1E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345643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770"/>
                </a:solidFill>
              </a:rPr>
              <a:t>Team name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3"/>
                </a:solidFill>
              </a:rPr>
              <a:t>&lt;&gt;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493008" y="345643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770"/>
                </a:solidFill>
              </a:rPr>
              <a:t>Team members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93008" y="36850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3"/>
                </a:solidFill>
              </a:rPr>
              <a:t>Tejas (23B0932)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4672" y="49834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933"/>
                </a:solidFill>
              </a:rPr>
              <a:t>Question: can in-context learning be decomposed into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1E2933"/>
                </a:solidFill>
              </a:rPr>
              <a:t>Task Recognition and Task Learning at the head level?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51342A-0524-3D52-BEA5-8CD4EB8FD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70" y="1812407"/>
            <a:ext cx="4048690" cy="28674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</a:rPr>
              <a:t>From transformer-circuit intuition to our scaled reproduction results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440680" cy="5029200"/>
          </a:xfrm>
          <a:prstGeom prst="roundRect">
            <a:avLst>
              <a:gd name="adj" fmla="val 1455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36208" y="1234440"/>
            <a:ext cx="5303520" cy="5029200"/>
          </a:xfrm>
          <a:prstGeom prst="roundRect">
            <a:avLst>
              <a:gd name="adj" fmla="val 1455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00200"/>
            <a:ext cx="47548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Problem statement and workflow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What changed after prep review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Background: residual stream, task subspace, induction heads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Proposed approach: TR, TL and IH scoring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Dataset, prompts and experimental setup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73952" y="1600200"/>
            <a:ext cx="45262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Results: head identification and specialization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Results: ablation, depth, and attention patterns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Main takeaways and limitations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End-term proposal: multi-position TSLA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References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</a:rPr>
              <a:t>The paper asks whether in-context learning decomposes into two separable computations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977640" cy="4892040"/>
          </a:xfrm>
          <a:prstGeom prst="roundRect">
            <a:avLst>
              <a:gd name="adj" fmla="val 1839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00600" y="1234440"/>
            <a:ext cx="6720840" cy="4892040"/>
          </a:xfrm>
          <a:prstGeom prst="roundRect">
            <a:avLst>
              <a:gd name="adj" fmla="val 1495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5361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7F8E"/>
                </a:solidFill>
              </a:rPr>
              <a:t>Core question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33832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Task Recognition (TR): infer the label space from demonstrations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Task Learning (TL): map the query to the correct label inside that space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Induction Heads (IH): copy-like heads that may support ICL structurally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Goal of our project: test whether the paper’s qualitative findings survive in a small, quantized setup</a:t>
            </a:r>
            <a:endParaRPr lang="en-US" sz="1800" dirty="0"/>
          </a:p>
        </p:txBody>
      </p:sp>
      <p:pic>
        <p:nvPicPr>
          <p:cNvPr id="8" name="Image 0" descr="/mnt/data/tl-tr-h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403486"/>
            <a:ext cx="6172200" cy="245336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0" y="5504688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FFCF6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96128" y="560527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7F8E"/>
                </a:solidFill>
              </a:rPr>
              <a:t>TR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596128" y="5934456"/>
            <a:ext cx="1517904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770"/>
                </a:solidFill>
              </a:rPr>
              <a:t>recognize label space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33488" y="5504688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FFCF6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443216" y="560527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57A44"/>
                </a:solidFill>
              </a:rPr>
              <a:t>TL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443216" y="5934456"/>
            <a:ext cx="1517904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770"/>
                </a:solidFill>
              </a:rPr>
              <a:t>pick correct label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180576" y="5504688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FFCF6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290304" y="5605272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44A7C"/>
                </a:solidFill>
              </a:rPr>
              <a:t>IH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290304" y="5934456"/>
            <a:ext cx="1517904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770"/>
                </a:solidFill>
              </a:rPr>
              <a:t>copy label-like patterns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</a:rPr>
              <a:t>How the project progressed from reading to implementation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80644" y="1975104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2084832"/>
            <a:ext cx="274320" cy="274320"/>
          </a:xfrm>
          <a:prstGeom prst="ellipse">
            <a:avLst/>
          </a:prstGeom>
          <a:solidFill>
            <a:srgbClr val="2A7F8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" y="2395728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3"/>
                </a:solidFill>
              </a:rPr>
              <a:t>Read papers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51760" y="2450592"/>
            <a:ext cx="256032" cy="292608"/>
          </a:xfrm>
          <a:prstGeom prst="chevron">
            <a:avLst/>
          </a:prstGeom>
          <a:solidFill>
            <a:srgbClr val="D6D2CB"/>
          </a:solidFill>
          <a:ln w="12700">
            <a:solidFill>
              <a:srgbClr val="D6D2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71800" y="201168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44952" y="2084832"/>
            <a:ext cx="274320" cy="274320"/>
          </a:xfrm>
          <a:prstGeom prst="ellipse">
            <a:avLst/>
          </a:prstGeom>
          <a:solidFill>
            <a:srgbClr val="E57A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82112" y="2395728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3"/>
                </a:solidFill>
              </a:rPr>
              <a:t>Define scope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0" y="2450592"/>
            <a:ext cx="256032" cy="292608"/>
          </a:xfrm>
          <a:prstGeom prst="chevron">
            <a:avLst/>
          </a:prstGeom>
          <a:solidFill>
            <a:srgbClr val="D6D2CB"/>
          </a:solidFill>
          <a:ln w="12700">
            <a:solidFill>
              <a:srgbClr val="D6D2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201168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22392" y="2084832"/>
            <a:ext cx="274320" cy="274320"/>
          </a:xfrm>
          <a:prstGeom prst="ellipse">
            <a:avLst/>
          </a:prstGeom>
          <a:solidFill>
            <a:srgbClr val="A44A7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59552" y="2395728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3"/>
                </a:solidFill>
              </a:rPr>
              <a:t>Build codebase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06640" y="2450592"/>
            <a:ext cx="256032" cy="292608"/>
          </a:xfrm>
          <a:prstGeom prst="chevron">
            <a:avLst/>
          </a:prstGeom>
          <a:solidFill>
            <a:srgbClr val="D6D2CB"/>
          </a:solidFill>
          <a:ln w="12700">
            <a:solidFill>
              <a:srgbClr val="D6D2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201168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99832" y="2084832"/>
            <a:ext cx="274320" cy="274320"/>
          </a:xfrm>
          <a:prstGeom prst="ellipse">
            <a:avLst/>
          </a:prstGeom>
          <a:solidFill>
            <a:srgbClr val="6C9E4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36992" y="2395728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3"/>
                </a:solidFill>
              </a:rPr>
              <a:t>Run experiments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784080" y="2450592"/>
            <a:ext cx="256032" cy="292608"/>
          </a:xfrm>
          <a:prstGeom prst="chevron">
            <a:avLst/>
          </a:prstGeom>
          <a:solidFill>
            <a:srgbClr val="D6D2CB"/>
          </a:solidFill>
          <a:ln w="12700">
            <a:solidFill>
              <a:srgbClr val="D6D2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04120" y="201168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10177272" y="2084832"/>
            <a:ext cx="274320" cy="274320"/>
          </a:xfrm>
          <a:prstGeom prst="ellipse">
            <a:avLst/>
          </a:prstGeom>
          <a:solidFill>
            <a:srgbClr val="17324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314432" y="2395728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3"/>
                </a:solidFill>
              </a:rPr>
              <a:t>Analyze + report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2960" y="4069080"/>
            <a:ext cx="105156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E2933"/>
                </a:solidFill>
              </a:rPr>
              <a:t>Primary paper + foundational reading: transformer circuits and induction heads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E2933"/>
                </a:solidFill>
              </a:rPr>
              <a:t>Feasible setup under Kaggle limits: SST-2, 8-shot ICL, 4-bit Llama 3.2 3B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E2933"/>
                </a:solidFill>
              </a:rPr>
              <a:t>Implemented prompt bookkeeping, head extraction, TR/TL/IH scoring, ablation, plotting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E2933"/>
                </a:solidFill>
              </a:rPr>
              <a:t>Reproduced five experiments and compared trends against the paper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 after prep presentation review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</a:rPr>
              <a:t>Main corrections and extensions added before the final report/deck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972800" cy="5120640"/>
          </a:xfrm>
          <a:prstGeom prst="roundRect">
            <a:avLst>
              <a:gd name="adj" fmla="val 1429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737360"/>
            <a:ext cx="722376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Tightened the TR/TL math to match the paper: general label subspace, correct projector, TR as projected norm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Added two new analyses: layer-wise depth distribution and attention allocation (demo labels vs. query tokens)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Strengthened the interpretation of overlap metrics: top-set overlap + full-ranking correlations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Refined the end-term plan into a concrete research idea: extend TSLA beyond single-position localization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Improved report rigor, references, and explicit workflow / limitations sections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778240" y="1645920"/>
            <a:ext cx="0" cy="4389120"/>
          </a:xfrm>
          <a:prstGeom prst="line">
            <a:avLst/>
          </a:prstGeom>
          <a:noFill/>
          <a:ln w="12700">
            <a:solidFill>
              <a:srgbClr val="D6D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0" y="18745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0" y="2286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Background: the residual stream 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</a:rPr>
              <a:t>Why attention heads can be studied as separable contributors?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6400800" cy="5257800"/>
          </a:xfrm>
          <a:prstGeom prst="roundRect">
            <a:avLst>
              <a:gd name="adj" fmla="val 1391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81672" y="1216152"/>
            <a:ext cx="4251960" cy="5257800"/>
          </a:xfrm>
          <a:prstGeom prst="roundRect">
            <a:avLst>
              <a:gd name="adj" fmla="val 1720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data/transformer-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05366"/>
            <a:ext cx="5760720" cy="27330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1783080"/>
            <a:ext cx="356616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Each attention head writes a vector into the residual stream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The final logits are read out by the unembedding matrix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So each head has a direct, measurable effect on candidate-label logits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This makes per-head attribution possible in principle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498080" y="434391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7A44"/>
                </a:solidFill>
              </a:rPr>
              <a:t>Intuition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0" y="482803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3"/>
                </a:solidFill>
              </a:rPr>
              <a:t>Think of the residual stream as a shared communication bus.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E2933"/>
                </a:solidFill>
              </a:rPr>
              <a:t>Heads can write in different subspaces; some subspaces matter for sentiment labels, others do not.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Background: task subspace, TR and TL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</a:rPr>
              <a:t>Geometric intuition behind the paper’s decomposition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4572000" cy="5257800"/>
          </a:xfrm>
          <a:prstGeom prst="roundRect">
            <a:avLst>
              <a:gd name="adj" fmla="val 1600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40680" y="1234440"/>
            <a:ext cx="6080760" cy="5257800"/>
          </a:xfrm>
          <a:prstGeom prst="roundRect">
            <a:avLst>
              <a:gd name="adj" fmla="val 1391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data/residual-st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523451"/>
            <a:ext cx="4069080" cy="8966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452628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7F8E"/>
                </a:solidFill>
              </a:rPr>
              <a:t>Key idea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47548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3"/>
                </a:solidFill>
              </a:rPr>
              <a:t>Candidate-label unembedding vectors span a low-dimensional task subspace inside the residual stream.</a:t>
            </a:r>
            <a:endParaRPr lang="en-US" sz="1700" dirty="0"/>
          </a:p>
        </p:txBody>
      </p:sp>
      <p:pic>
        <p:nvPicPr>
          <p:cNvPr id="9" name="Image 1" descr="/mnt/data/tl-tr-hea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224488"/>
            <a:ext cx="5623560" cy="22352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715000" y="544068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FFFCF6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824728" y="55412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7F8E"/>
                </a:solidFill>
              </a:rPr>
              <a:t>TR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5824728" y="5870448"/>
            <a:ext cx="243230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770"/>
                </a:solidFill>
              </a:rPr>
              <a:t>How much of a head output lies in the label subspace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458200" y="5440680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FFCF6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567928" y="554126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57A44"/>
                </a:solidFill>
              </a:rPr>
              <a:t>TL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567928" y="5870448"/>
            <a:ext cx="252374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770"/>
                </a:solidFill>
              </a:rPr>
              <a:t>Within that subspace, how much it favors the correct label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approach in the paper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</a:rPr>
              <a:t>Score heads, select the top sets, then test them causally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280160"/>
            <a:ext cx="3657600" cy="5120640"/>
          </a:xfrm>
          <a:prstGeom prst="roundRect">
            <a:avLst>
              <a:gd name="adj" fmla="val 2000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4526280" y="1280160"/>
            <a:ext cx="3611880" cy="5120640"/>
          </a:xfrm>
          <a:prstGeom prst="roundRect">
            <a:avLst>
              <a:gd name="adj" fmla="val 2025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8339328" y="1280160"/>
            <a:ext cx="3200400" cy="5120640"/>
          </a:xfrm>
          <a:prstGeom prst="roundRect">
            <a:avLst>
              <a:gd name="adj" fmla="val 2286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45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7F8E"/>
                </a:solidFill>
              </a:rPr>
              <a:t>Scoring</a:t>
            </a:r>
            <a:endParaRPr lang="en-US" sz="1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680" y="3337560"/>
            <a:ext cx="2697480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4343400"/>
            <a:ext cx="283464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82880" indent="-182880">
              <a:buSzPct val="100000"/>
              <a:buChar char="•"/>
            </a:pP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736591" y="1645920"/>
            <a:ext cx="221629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7A44"/>
                </a:solidFill>
              </a:rPr>
              <a:t>Selection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4736592" y="2011680"/>
            <a:ext cx="283464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50 scoring prompts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672 total query heads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Top 3% = 20 heads per set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Matched-size random control set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549640" y="16459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44A7C"/>
                </a:solidFill>
              </a:rPr>
              <a:t>Tests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549640" y="2011680"/>
            <a:ext cx="246888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Overlap + rank correlations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Ablation on 200 eval prompts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Layer-depth analysis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Attention allocation analysis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574657" y="4447607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Main question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549640" y="48920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3"/>
                </a:solidFill>
              </a:rPr>
              <a:t>Do these independently selected heads behave like distinct mechanisms?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D46A7DA-D6D9-C6A0-891E-15F9003ED4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125721"/>
            <a:ext cx="2991695" cy="200736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1EC6E4A-04F7-BEC5-5A3F-C54980A947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297680"/>
            <a:ext cx="2985380" cy="8691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and prompt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</a:rPr>
              <a:t>A single-task but carefully controlled SST-2 setup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3657600" cy="5212080"/>
          </a:xfrm>
          <a:prstGeom prst="roundRect">
            <a:avLst>
              <a:gd name="adj" fmla="val 2000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07992" y="1234440"/>
            <a:ext cx="7013448" cy="5212080"/>
          </a:xfrm>
          <a:prstGeom prst="roundRect">
            <a:avLst>
              <a:gd name="adj" fmla="val 1404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91640"/>
            <a:ext cx="292608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17170" indent="-217170">
              <a:buSzPct val="100000"/>
              <a:buChar char="•"/>
            </a:pPr>
            <a:r>
              <a:rPr lang="en-US" sz="1900" dirty="0">
                <a:solidFill>
                  <a:srgbClr val="1E2933"/>
                </a:solidFill>
              </a:rPr>
              <a:t>Dataset: SST-2 sentiment classification</a:t>
            </a:r>
            <a:endParaRPr lang="en-US" sz="1900" dirty="0"/>
          </a:p>
          <a:p>
            <a:pPr marL="217170" indent="-217170">
              <a:buSzPct val="100000"/>
              <a:buChar char="•"/>
            </a:pPr>
            <a:r>
              <a:rPr lang="en-US" sz="1900" dirty="0">
                <a:solidFill>
                  <a:srgbClr val="1E2933"/>
                </a:solidFill>
              </a:rPr>
              <a:t>Labels: negative / positive</a:t>
            </a:r>
            <a:endParaRPr lang="en-US" sz="1900" dirty="0"/>
          </a:p>
          <a:p>
            <a:pPr marL="217170" indent="-217170">
              <a:buSzPct val="100000"/>
              <a:buChar char="•"/>
            </a:pPr>
            <a:r>
              <a:rPr lang="en-US" sz="1900" dirty="0">
                <a:solidFill>
                  <a:srgbClr val="1E2933"/>
                </a:solidFill>
              </a:rPr>
              <a:t>Demonstrations: 8 shots (4 positive, 4 negative)</a:t>
            </a:r>
            <a:endParaRPr lang="en-US" sz="1900" dirty="0"/>
          </a:p>
          <a:p>
            <a:pPr marL="217170" indent="-217170">
              <a:buSzPct val="100000"/>
              <a:buChar char="•"/>
            </a:pPr>
            <a:r>
              <a:rPr lang="en-US" sz="1900" dirty="0">
                <a:solidFill>
                  <a:srgbClr val="1E2933"/>
                </a:solidFill>
              </a:rPr>
              <a:t>Scoring queries: 50</a:t>
            </a:r>
            <a:endParaRPr lang="en-US" sz="1900" dirty="0"/>
          </a:p>
          <a:p>
            <a:pPr marL="217170" indent="-217170">
              <a:buSzPct val="100000"/>
              <a:buChar char="•"/>
            </a:pPr>
            <a:r>
              <a:rPr lang="en-US" sz="1900" dirty="0">
                <a:solidFill>
                  <a:srgbClr val="1E2933"/>
                </a:solidFill>
              </a:rPr>
              <a:t>Eval queries: 200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96112" y="452628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CF6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4626864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7F8E"/>
                </a:solidFill>
              </a:rPr>
              <a:t>8-shot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4956048"/>
            <a:ext cx="128930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770"/>
                </a:solidFill>
              </a:rPr>
              <a:t>ICL context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0" y="452628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CF6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70048" y="4626864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57A44"/>
                </a:solidFill>
              </a:rPr>
              <a:t>50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70048" y="4956048"/>
            <a:ext cx="1289304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770"/>
                </a:solidFill>
              </a:rPr>
              <a:t>score prompts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157276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Prompt template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1965960"/>
            <a:ext cx="6309360" cy="2377440"/>
          </a:xfrm>
          <a:prstGeom prst="rect">
            <a:avLst/>
          </a:prstGeom>
          <a:solidFill>
            <a:srgbClr val="F3EFE7"/>
          </a:solidFill>
          <a:ln>
            <a:solidFill>
              <a:srgbClr val="D6D2CB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 is fantastic" Sentiment: positive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 so good" Sentiment: negative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E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 ambitious and moving film" Sentiment: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79" y="4462272"/>
            <a:ext cx="232740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7F8E"/>
                </a:solidFill>
              </a:rPr>
              <a:t>Why this task?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501091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933"/>
                </a:solidFill>
              </a:rPr>
              <a:t>Simple binary labels make the TR/TL geometry easy to visualize while still exercising genuine in-context classification.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setup and implementation details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</a:rPr>
              <a:t>A scaled qualitative reproduction under Kaggle constraints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5486400" cy="5212080"/>
          </a:xfrm>
          <a:prstGeom prst="roundRect">
            <a:avLst>
              <a:gd name="adj" fmla="val 1404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1234440"/>
            <a:ext cx="5184648" cy="5212080"/>
          </a:xfrm>
          <a:prstGeom prst="roundRect">
            <a:avLst>
              <a:gd name="adj" fmla="val 1411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91640"/>
            <a:ext cx="457200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Model: unsloth/Llama-3.2-3B-Instruct-bnb-4bit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28 layers × 24 query heads = 672 heads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Hidden size 3072, head dimension 128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Attention extraction in eager mode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Per-head output reconstruction from quantized weights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4846320"/>
            <a:ext cx="1188720" cy="749808"/>
          </a:xfrm>
          <a:prstGeom prst="roundRect">
            <a:avLst>
              <a:gd name="adj" fmla="val 9756"/>
            </a:avLst>
          </a:prstGeom>
          <a:solidFill>
            <a:srgbClr val="FFFCF6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4128" y="4946904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7F8E"/>
                </a:solidFill>
              </a:rPr>
              <a:t>P100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24128" y="5276088"/>
            <a:ext cx="9692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770"/>
                </a:solidFill>
              </a:rPr>
              <a:t>16 GB VRAM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40280" y="4846320"/>
            <a:ext cx="1188720" cy="749808"/>
          </a:xfrm>
          <a:prstGeom prst="roundRect">
            <a:avLst>
              <a:gd name="adj" fmla="val 9756"/>
            </a:avLst>
          </a:prstGeom>
          <a:solidFill>
            <a:srgbClr val="FFFCF6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50008" y="4946904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57A44"/>
                </a:solidFill>
              </a:rPr>
              <a:t>4-bit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50008" y="5276088"/>
            <a:ext cx="9692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770"/>
                </a:solidFill>
              </a:rPr>
              <a:t>NF4 checkpoint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4846320"/>
            <a:ext cx="1188720" cy="749808"/>
          </a:xfrm>
          <a:prstGeom prst="roundRect">
            <a:avLst>
              <a:gd name="adj" fmla="val 9756"/>
            </a:avLst>
          </a:prstGeom>
          <a:solidFill>
            <a:srgbClr val="FFFCF6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75888" y="4946904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44A7C"/>
                </a:solidFill>
              </a:rPr>
              <a:t>200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75888" y="5276088"/>
            <a:ext cx="9692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770"/>
                </a:solidFill>
              </a:rPr>
              <a:t>eval prompts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79" y="1618488"/>
            <a:ext cx="316416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Reproduction philosophy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2011680"/>
            <a:ext cx="429768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Not an exact replication of the paper’s model/dataset sweep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Target: recover the paper’s qualitative trends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Single dataset + single model lets us go deeper on interpretation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Every result should be read as “consistent with” rather than “identical to” the paper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4892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7F8E"/>
                </a:solidFill>
              </a:rPr>
              <a:t>Code + artifacts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513892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https://github.com/TejasNC/task-subspace-logit-attribution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I: head identification and specialization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</a:rPr>
              <a:t>TR looks much closer to IH than TL does</a:t>
            </a:r>
            <a:endParaRPr lang="en-US" sz="1150" dirty="0"/>
          </a:p>
        </p:txBody>
      </p:sp>
      <p:pic>
        <p:nvPicPr>
          <p:cNvPr id="4" name="Image 0" descr="/mnt/data/experiment-1-tr-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966" y="1234440"/>
            <a:ext cx="2889228" cy="2240280"/>
          </a:xfrm>
          <a:prstGeom prst="rect">
            <a:avLst/>
          </a:prstGeom>
        </p:spPr>
      </p:pic>
      <p:pic>
        <p:nvPicPr>
          <p:cNvPr id="5" name="Image 1" descr="/mnt/data/experiment-1-tl-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358" y="1234440"/>
            <a:ext cx="2896524" cy="2240280"/>
          </a:xfrm>
          <a:prstGeom prst="rect">
            <a:avLst/>
          </a:prstGeom>
        </p:spPr>
      </p:pic>
      <p:pic>
        <p:nvPicPr>
          <p:cNvPr id="6" name="Image 2" descr="/mnt/data/experiment-1-ih-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8671" y="1234440"/>
            <a:ext cx="2847979" cy="2240280"/>
          </a:xfrm>
          <a:prstGeom prst="rect">
            <a:avLst/>
          </a:prstGeom>
        </p:spPr>
      </p:pic>
      <p:pic>
        <p:nvPicPr>
          <p:cNvPr id="7" name="Image 3" descr="/mnt/data/experiment-2-jacard-similar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116" y="3794760"/>
            <a:ext cx="3382647" cy="2148840"/>
          </a:xfrm>
          <a:prstGeom prst="rect">
            <a:avLst/>
          </a:prstGeom>
        </p:spPr>
      </p:pic>
      <p:pic>
        <p:nvPicPr>
          <p:cNvPr id="8" name="Image 4" descr="/mnt/data/experiment-2-rank-correl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870595"/>
            <a:ext cx="3749040" cy="1997169"/>
          </a:xfrm>
          <a:prstGeom prst="rect">
            <a:avLst/>
          </a:prstGeom>
        </p:spPr>
      </p:pic>
      <p:pic>
        <p:nvPicPr>
          <p:cNvPr id="9" name="Image 5" descr="/mnt/data/experiment-2-conditional-mean-percent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7070" y="3794760"/>
            <a:ext cx="3168340" cy="214884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685800" y="623620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3"/>
                </a:solidFill>
              </a:rPr>
              <a:t>Key numbers: TR-IH overlap = 4/20; TL-IH overlap = 1/20; Jaccard(TR,IH)=0.111; Spearman(TR,IH)=0.545.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II: ablation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</a:rPr>
              <a:t>Different head sets break the model in different ways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4892040" cy="5074920"/>
          </a:xfrm>
          <a:prstGeom prst="roundRect">
            <a:avLst>
              <a:gd name="adj" fmla="val 1495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0" y="1280160"/>
            <a:ext cx="5715000" cy="5074920"/>
          </a:xfrm>
          <a:prstGeom prst="roundRect">
            <a:avLst>
              <a:gd name="adj" fmla="val 1441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data/experiment-3-abalation-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944" y="1645920"/>
            <a:ext cx="4033753" cy="2148840"/>
          </a:xfrm>
          <a:prstGeom prst="rect">
            <a:avLst/>
          </a:prstGeom>
        </p:spPr>
      </p:pic>
      <p:pic>
        <p:nvPicPr>
          <p:cNvPr id="7" name="Image 1" descr="/mnt/data/experiment-3-tr-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944" y="3822192"/>
            <a:ext cx="4033753" cy="2148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35040" y="1828800"/>
            <a:ext cx="475488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0025" indent="-200025">
              <a:buSzPct val="100000"/>
              <a:buChar char="•"/>
            </a:pPr>
            <a:r>
              <a:rPr lang="en-US" sz="1750" dirty="0">
                <a:solidFill>
                  <a:srgbClr val="1E2933"/>
                </a:solidFill>
              </a:rPr>
              <a:t>TR ablation drops both accuracy and TR ratio → the model is less likely to stay in the label space</a:t>
            </a:r>
            <a:endParaRPr lang="en-US" sz="1750" dirty="0"/>
          </a:p>
          <a:p>
            <a:pPr marL="200025" indent="-200025">
              <a:buSzPct val="100000"/>
              <a:buChar char="•"/>
            </a:pPr>
            <a:r>
              <a:rPr lang="en-US" sz="1750" dirty="0">
                <a:solidFill>
                  <a:srgbClr val="1E2933"/>
                </a:solidFill>
              </a:rPr>
              <a:t>TL ablation hurts accuracy more than TR ratio → the model still “knows the task” but often picks the wrong label</a:t>
            </a:r>
            <a:endParaRPr lang="en-US" sz="1750" dirty="0"/>
          </a:p>
          <a:p>
            <a:pPr marL="200025" indent="-200025">
              <a:buSzPct val="100000"/>
              <a:buChar char="•"/>
            </a:pPr>
            <a:r>
              <a:rPr lang="en-US" sz="1750" dirty="0">
                <a:solidFill>
                  <a:srgbClr val="1E2933"/>
                </a:solidFill>
              </a:rPr>
              <a:t>IH ablation is most destructive → induction-like machinery is a shared substrate for ICL here</a:t>
            </a:r>
            <a:endParaRPr lang="en-US" sz="1750" dirty="0"/>
          </a:p>
          <a:p>
            <a:pPr marL="200025" indent="-200025">
              <a:buSzPct val="100000"/>
              <a:buChar char="•"/>
            </a:pPr>
            <a:r>
              <a:rPr lang="en-US" sz="1750" dirty="0">
                <a:solidFill>
                  <a:srgbClr val="1E2933"/>
                </a:solidFill>
              </a:rPr>
              <a:t>Random ablation is basically harmless → effects are functional, not just due to removing 20 heads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III: layer-wise distribution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</a:rPr>
              <a:t>TR heads emerge much deeper than TL and IH heads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5486400" cy="5074920"/>
          </a:xfrm>
          <a:prstGeom prst="roundRect">
            <a:avLst>
              <a:gd name="adj" fmla="val 1441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1280160"/>
            <a:ext cx="5166360" cy="5074920"/>
          </a:xfrm>
          <a:prstGeom prst="roundRect">
            <a:avLst>
              <a:gd name="adj" fmla="val 1441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data/experiment-4-violin -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31693"/>
            <a:ext cx="4937760" cy="3944422"/>
          </a:xfrm>
          <a:prstGeom prst="rect">
            <a:avLst/>
          </a:prstGeom>
        </p:spPr>
      </p:pic>
      <p:pic>
        <p:nvPicPr>
          <p:cNvPr id="7" name="Image 1" descr="/mnt/data/experiment-4-layer-cou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096831"/>
            <a:ext cx="4617720" cy="18962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29400" y="4617720"/>
            <a:ext cx="45262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88595" indent="-188595">
              <a:buSzPct val="100000"/>
              <a:buChar char="•"/>
            </a:pPr>
            <a:r>
              <a:rPr lang="en-US" sz="1650" dirty="0">
                <a:solidFill>
                  <a:srgbClr val="1E2933"/>
                </a:solidFill>
              </a:rPr>
              <a:t>Mean layer indices: TR 22.65, TL 14.95, IH 14.90</a:t>
            </a:r>
            <a:endParaRPr lang="en-US" sz="1650" dirty="0"/>
          </a:p>
          <a:p>
            <a:pPr marL="188595" indent="-188595">
              <a:buSzPct val="100000"/>
              <a:buChar char="•"/>
            </a:pPr>
            <a:r>
              <a:rPr lang="en-US" sz="1650" dirty="0">
                <a:solidFill>
                  <a:srgbClr val="1E2933"/>
                </a:solidFill>
              </a:rPr>
              <a:t>TL vs TR and IH vs TR are significant; TL vs IH is not</a:t>
            </a:r>
            <a:endParaRPr lang="en-US" sz="1650" dirty="0"/>
          </a:p>
          <a:p>
            <a:pPr marL="188595" indent="-188595">
              <a:buSzPct val="100000"/>
              <a:buChar char="•"/>
            </a:pPr>
            <a:r>
              <a:rPr lang="en-US" sz="1650" dirty="0">
                <a:solidFill>
                  <a:srgbClr val="1E2933"/>
                </a:solidFill>
              </a:rPr>
              <a:t>Interpretation: middle layers retrieve and structure evidence; late layers project into the task-label subspace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IV: attention allocation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</a:rPr>
              <a:t>TR looks label-focused; TL looks query-focused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5577840" cy="5074920"/>
          </a:xfrm>
          <a:prstGeom prst="roundRect">
            <a:avLst>
              <a:gd name="adj" fmla="val 1441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0" y="1280160"/>
            <a:ext cx="5074920" cy="5074920"/>
          </a:xfrm>
          <a:prstGeom prst="roundRect">
            <a:avLst>
              <a:gd name="adj" fmla="val 1441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mnt/data/experiment-5-attention-allo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646456"/>
            <a:ext cx="5074920" cy="3290768"/>
          </a:xfrm>
          <a:prstGeom prst="rect">
            <a:avLst/>
          </a:prstGeom>
        </p:spPr>
      </p:pic>
      <p:pic>
        <p:nvPicPr>
          <p:cNvPr id="7" name="Image 1" descr="/mnt/data/experiment-5-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685273"/>
            <a:ext cx="4572000" cy="41366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5074920"/>
            <a:ext cx="48920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88595" indent="-188595">
              <a:buSzPct val="100000"/>
              <a:buChar char="•"/>
            </a:pPr>
            <a:r>
              <a:rPr lang="en-US" sz="1650" dirty="0">
                <a:solidFill>
                  <a:srgbClr val="1E2933"/>
                </a:solidFill>
              </a:rPr>
              <a:t>IH: ~0.70 attention to demo labels, almost none to query</a:t>
            </a:r>
            <a:endParaRPr lang="en-US" sz="1650" dirty="0"/>
          </a:p>
          <a:p>
            <a:pPr marL="188595" indent="-188595">
              <a:buSzPct val="100000"/>
              <a:buChar char="•"/>
            </a:pPr>
            <a:r>
              <a:rPr lang="en-US" sz="1650" dirty="0">
                <a:solidFill>
                  <a:srgbClr val="1E2933"/>
                </a:solidFill>
              </a:rPr>
              <a:t>TR: elevated demo-label attention (~0.30)</a:t>
            </a:r>
            <a:endParaRPr lang="en-US" sz="1650" dirty="0"/>
          </a:p>
          <a:p>
            <a:pPr marL="188595" indent="-188595">
              <a:buSzPct val="100000"/>
              <a:buChar char="•"/>
            </a:pPr>
            <a:r>
              <a:rPr lang="en-US" sz="1650" dirty="0">
                <a:solidFill>
                  <a:srgbClr val="1E2933"/>
                </a:solidFill>
              </a:rPr>
              <a:t>TL: strongest query attention (~0.33)</a:t>
            </a:r>
            <a:endParaRPr lang="en-US" sz="1650" dirty="0"/>
          </a:p>
          <a:p>
            <a:pPr marL="188595" indent="-188595">
              <a:buSzPct val="100000"/>
              <a:buChar char="•"/>
            </a:pPr>
            <a:r>
              <a:rPr lang="en-US" sz="1650" dirty="0">
                <a:solidFill>
                  <a:srgbClr val="1E2933"/>
                </a:solidFill>
              </a:rPr>
              <a:t>Random heads show no structured pattern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</a:rPr>
              <a:t>What survived the scaled reproduction?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6583680" cy="5074920"/>
          </a:xfrm>
          <a:prstGeom prst="roundRect">
            <a:avLst>
              <a:gd name="adj" fmla="val 1441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7498080" y="1298448"/>
            <a:ext cx="3977640" cy="5074920"/>
          </a:xfrm>
          <a:prstGeom prst="roundRect">
            <a:avLst>
              <a:gd name="adj" fmla="val 1839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783080"/>
            <a:ext cx="585216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We recovered the paper’s main qualitative story on SST-2 with a smaller 4-bit model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TR and TL heads are separable by overlap, depth, attention patterns, and ablation signatures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TR is mechanistically closer to induction heads than TL is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3"/>
                </a:solidFill>
              </a:rPr>
              <a:t>The decomposition is useful because it explains not just which heads matter, but how they matter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50749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18120" y="182880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FFFCF6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27848" y="1929384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A7F8E"/>
                </a:solidFill>
              </a:rPr>
              <a:t>4/20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927848" y="2258568"/>
            <a:ext cx="101498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770"/>
                </a:solidFill>
              </a:rPr>
              <a:t>TR ∩ IH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89720" y="182880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FFFCF6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299448" y="1929384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44A7C"/>
                </a:solidFill>
              </a:rPr>
              <a:t>0/20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299448" y="2258568"/>
            <a:ext cx="101498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770"/>
                </a:solidFill>
              </a:rPr>
              <a:t>TR ∩ TL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18120" y="306324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FFFCF6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27848" y="3163824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324D"/>
                </a:solidFill>
              </a:rPr>
              <a:t>22.65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927848" y="3493008"/>
            <a:ext cx="101498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770"/>
                </a:solidFill>
              </a:rPr>
              <a:t>TR mean layer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89720" y="306324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FFFCF6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99448" y="3163824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57A44"/>
                </a:solidFill>
              </a:rPr>
              <a:t>0.333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99448" y="3493008"/>
            <a:ext cx="101498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770"/>
                </a:solidFill>
              </a:rPr>
              <a:t>TL query attention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18120" y="4206240"/>
            <a:ext cx="216264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7F8E"/>
                </a:solidFill>
              </a:rPr>
              <a:t>Takeaway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818120" y="4892040"/>
            <a:ext cx="3441192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3"/>
                </a:solidFill>
              </a:rPr>
              <a:t>In-context learning is not monolithic.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E2933"/>
                </a:solidFill>
              </a:rPr>
              <a:t>Recognizing the task and solving the query look like different head-level computations.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for end-term assessment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58302" y="85953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</a:rPr>
              <a:t>One concrete extension: move from single-position TSLA to multi-position TSLA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4572000" cy="5074920"/>
          </a:xfrm>
          <a:prstGeom prst="roundRect">
            <a:avLst>
              <a:gd name="adj" fmla="val 1600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68112" y="1298448"/>
            <a:ext cx="6007608" cy="5074920"/>
          </a:xfrm>
          <a:prstGeom prst="roundRect">
            <a:avLst>
              <a:gd name="adj" fmla="val 1441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399" y="1572768"/>
            <a:ext cx="2924355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7F8E"/>
                </a:solidFill>
              </a:rPr>
              <a:t>Motivation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37490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Current TSLA scores heads at one prediction position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But task information in ICL may be distributed across multiple output positions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Composite prompts stress this weakness most clearly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312276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7A44"/>
                </a:solidFill>
              </a:rPr>
              <a:t>Proposed idea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E2933"/>
                </a:solidFill>
              </a:rPr>
              <a:t>Define multi-position TR/TL scores that aggregate head contributions over several task-relevant positions (demo outputs + query outputs), then compare them against single-position TSLA.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715000" y="1444752"/>
            <a:ext cx="347213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Expected deliverables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15000" y="2011680"/>
            <a:ext cx="507492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Head-set stability: does multi-position TR become more robust?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Composite-task experiments: does TR transfer across subtasks more than TL?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Multi-position intervention: does it explain more causally than final-position-only ablation?</a:t>
            </a:r>
            <a:endParaRPr lang="en-US" sz="1800" dirty="0"/>
          </a:p>
          <a:p>
            <a:pPr marL="205740" indent="-205740">
              <a:buSzPct val="100000"/>
              <a:buChar char="•"/>
            </a:pPr>
            <a:r>
              <a:rPr lang="en-US" sz="1800" dirty="0">
                <a:solidFill>
                  <a:srgbClr val="1E2933"/>
                </a:solidFill>
              </a:rPr>
              <a:t>Broader test of a key criticism: are task representations localized or distributed?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14999" y="4727448"/>
            <a:ext cx="357564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7F8E"/>
                </a:solidFill>
              </a:rPr>
              <a:t>Why this is a good extension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15000" y="5321808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1E2933"/>
                </a:solidFill>
              </a:rPr>
              <a:t>It builds directly on our existing code and targets a real limitation of the paper, rather than merely adding more datasets.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</a:rPr>
              <a:t>Papers, websites, and code resources used in the project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9742" y="1225814"/>
            <a:ext cx="10972800" cy="5002458"/>
          </a:xfrm>
          <a:prstGeom prst="roundRect">
            <a:avLst>
              <a:gd name="adj" fmla="val 1368"/>
            </a:avLst>
          </a:prstGeom>
          <a:solidFill>
            <a:srgbClr val="FFFDF8"/>
          </a:solidFill>
          <a:ln w="12700">
            <a:solidFill>
              <a:srgbClr val="D6D2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00200"/>
            <a:ext cx="1042416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165" indent="-177165">
              <a:buSzPct val="100000"/>
              <a:buChar char="•"/>
            </a:pPr>
            <a:r>
              <a:rPr lang="en-US" sz="1550" dirty="0">
                <a:solidFill>
                  <a:srgbClr val="1E2933"/>
                </a:solidFill>
              </a:rPr>
              <a:t>Yang, H., Cho, H., &amp; Inoue, N. (2026). Localizing Task Recognition and Task Learning in In-Context Learning via Attention Head Analysis. ICLR 2026. OpenReview.</a:t>
            </a:r>
            <a:endParaRPr lang="en-US" sz="1550" dirty="0"/>
          </a:p>
          <a:p>
            <a:pPr marL="177165" indent="-177165">
              <a:buSzPct val="100000"/>
              <a:buChar char="•"/>
            </a:pPr>
            <a:r>
              <a:rPr lang="en-US" sz="1550" dirty="0">
                <a:solidFill>
                  <a:srgbClr val="1E2933"/>
                </a:solidFill>
              </a:rPr>
              <a:t>Elhage, N. et al. (2021). A Mathematical Framework for Transformer Circuits. Transformer Circuits Thread, Anthropic.</a:t>
            </a:r>
            <a:endParaRPr lang="en-US" sz="1550" dirty="0"/>
          </a:p>
          <a:p>
            <a:pPr marL="177165" indent="-177165">
              <a:buSzPct val="100000"/>
              <a:buChar char="•"/>
            </a:pPr>
            <a:r>
              <a:rPr lang="en-US" sz="1550" dirty="0">
                <a:solidFill>
                  <a:srgbClr val="1E2933"/>
                </a:solidFill>
              </a:rPr>
              <a:t>Olsson, C. et al. (2022). In-context Learning and Induction Heads. Transformer Circuits Thread, Anthropic.</a:t>
            </a:r>
            <a:endParaRPr lang="en-US" sz="1550" dirty="0"/>
          </a:p>
          <a:p>
            <a:pPr marL="177165" indent="-177165">
              <a:buSzPct val="100000"/>
              <a:buChar char="•"/>
            </a:pPr>
            <a:r>
              <a:rPr lang="en-US" sz="1550" dirty="0">
                <a:solidFill>
                  <a:srgbClr val="1E2933"/>
                </a:solidFill>
              </a:rPr>
              <a:t>Wolf, T. et al. (2020). Transformers: State-of-the-Art Natural Language Processing. EMNLP System Demonstrations.</a:t>
            </a:r>
            <a:endParaRPr lang="en-US" sz="1550" dirty="0"/>
          </a:p>
          <a:p>
            <a:pPr marL="177165" indent="-177165">
              <a:buSzPct val="100000"/>
              <a:buChar char="•"/>
            </a:pPr>
            <a:r>
              <a:rPr lang="en-US" sz="1550" dirty="0">
                <a:solidFill>
                  <a:srgbClr val="1E2933"/>
                </a:solidFill>
              </a:rPr>
              <a:t>Dettmers, T. et al. (2023). QLoRA: Efficient Finetuning of Quantized Language Models. NeurIPS 2023.</a:t>
            </a:r>
            <a:endParaRPr lang="en-US" sz="1550" dirty="0"/>
          </a:p>
          <a:p>
            <a:pPr marL="177165" indent="-177165">
              <a:buSzPct val="100000"/>
              <a:buChar char="•"/>
            </a:pPr>
            <a:r>
              <a:rPr lang="en-US" sz="1550" dirty="0">
                <a:solidFill>
                  <a:srgbClr val="1E2933"/>
                </a:solidFill>
              </a:rPr>
              <a:t>Unsloth. (March, 2026 accessed). unsloth/Llama-3.2-3B-Instruct-bnb-4bit. Hugging Face model repository.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F5F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1764</Words>
  <Application>Microsoft Office PowerPoint</Application>
  <PresentationFormat>Widescreen</PresentationFormat>
  <Paragraphs>239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Localizing Task Recognition and Task Learning in In-Context Learning via Attention Head Analysis</dc:title>
  <dc:subject>IE 663 course project presentation</dc:subject>
  <dc:creator>OpenAI</dc:creator>
  <cp:lastModifiedBy>Tejas Chaudhari</cp:lastModifiedBy>
  <cp:revision>3</cp:revision>
  <dcterms:created xsi:type="dcterms:W3CDTF">2026-03-11T09:26:18Z</dcterms:created>
  <dcterms:modified xsi:type="dcterms:W3CDTF">2026-03-11T15:44:08Z</dcterms:modified>
</cp:coreProperties>
</file>